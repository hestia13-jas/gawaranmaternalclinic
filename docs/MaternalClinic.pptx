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ontserrat" charset="1" panose="00000500000000000000"/>
      <p:regular r:id="rId14"/>
    </p:embeddedFont>
    <p:embeddedFont>
      <p:font typeface="Montserrat Bold" charset="1" panose="00000800000000000000"/>
      <p:regular r:id="rId15"/>
    </p:embeddedFont>
    <p:embeddedFont>
      <p:font typeface="Montserrat Semi-Bold" charset="1" panose="000007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4679019" y="0"/>
            <a:ext cx="4264059" cy="10287000"/>
            <a:chOff x="0" y="0"/>
            <a:chExt cx="1123044" cy="2709333"/>
          </a:xfrm>
        </p:grpSpPr>
        <p:sp>
          <p:nvSpPr>
            <p:cNvPr name="Freeform 3" id="3"/>
            <p:cNvSpPr/>
            <p:nvPr/>
          </p:nvSpPr>
          <p:spPr>
            <a:xfrm flipH="false" flipV="false" rot="0">
              <a:off x="0" y="0"/>
              <a:ext cx="1123044" cy="2709333"/>
            </a:xfrm>
            <a:custGeom>
              <a:avLst/>
              <a:gdLst/>
              <a:ahLst/>
              <a:cxnLst/>
              <a:rect r="r" b="b" t="t" l="l"/>
              <a:pathLst>
                <a:path h="2709333" w="1123044">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a:srgbClr val="DCE2EB"/>
            </a:solidFill>
          </p:spPr>
        </p:sp>
        <p:sp>
          <p:nvSpPr>
            <p:cNvPr name="TextBox 4" id="4"/>
            <p:cNvSpPr txBox="true"/>
            <p:nvPr/>
          </p:nvSpPr>
          <p:spPr>
            <a:xfrm>
              <a:off x="0" y="-38100"/>
              <a:ext cx="1123044" cy="2747433"/>
            </a:xfrm>
            <a:prstGeom prst="rect">
              <a:avLst/>
            </a:prstGeom>
          </p:spPr>
          <p:txBody>
            <a:bodyPr anchor="ctr" rtlCol="false" tIns="50800" lIns="50800" bIns="50800" rIns="50800"/>
            <a:lstStyle/>
            <a:p>
              <a:pPr algn="ctr">
                <a:lnSpc>
                  <a:spcPts val="2591"/>
                </a:lnSpc>
              </a:pPr>
            </a:p>
          </p:txBody>
        </p:sp>
      </p:grpSp>
      <p:sp>
        <p:nvSpPr>
          <p:cNvPr name="TextBox 5" id="5"/>
          <p:cNvSpPr txBox="true"/>
          <p:nvPr/>
        </p:nvSpPr>
        <p:spPr>
          <a:xfrm rot="0">
            <a:off x="1396229" y="1556698"/>
            <a:ext cx="15495541" cy="995379"/>
          </a:xfrm>
          <a:prstGeom prst="rect">
            <a:avLst/>
          </a:prstGeom>
        </p:spPr>
        <p:txBody>
          <a:bodyPr anchor="t" rtlCol="false" tIns="0" lIns="0" bIns="0" rIns="0">
            <a:spAutoFit/>
          </a:bodyPr>
          <a:lstStyle/>
          <a:p>
            <a:pPr algn="ctr">
              <a:lnSpc>
                <a:spcPts val="8136"/>
              </a:lnSpc>
              <a:spcBef>
                <a:spcPct val="0"/>
              </a:spcBef>
            </a:pPr>
            <a:r>
              <a:rPr lang="en-US" sz="5811" spc="-337">
                <a:solidFill>
                  <a:srgbClr val="101B40"/>
                </a:solidFill>
                <a:latin typeface="Montserrat"/>
                <a:ea typeface="Montserrat"/>
                <a:cs typeface="Montserrat"/>
                <a:sym typeface="Montserrat"/>
              </a:rPr>
              <a:t>APPOIN</a:t>
            </a:r>
            <a:r>
              <a:rPr lang="en-US" sz="5811" spc="-337">
                <a:solidFill>
                  <a:srgbClr val="101B40"/>
                </a:solidFill>
                <a:latin typeface="Montserrat"/>
                <a:ea typeface="Montserrat"/>
                <a:cs typeface="Montserrat"/>
                <a:sym typeface="Montserrat"/>
              </a:rPr>
              <a:t>TMENT  MANAGEMENT  SYSTEM:</a:t>
            </a:r>
          </a:p>
        </p:txBody>
      </p:sp>
      <p:sp>
        <p:nvSpPr>
          <p:cNvPr name="TextBox 6" id="6"/>
          <p:cNvSpPr txBox="true"/>
          <p:nvPr/>
        </p:nvSpPr>
        <p:spPr>
          <a:xfrm rot="0">
            <a:off x="2035478" y="2799726"/>
            <a:ext cx="14217044" cy="4935198"/>
          </a:xfrm>
          <a:prstGeom prst="rect">
            <a:avLst/>
          </a:prstGeom>
        </p:spPr>
        <p:txBody>
          <a:bodyPr anchor="t" rtlCol="false" tIns="0" lIns="0" bIns="0" rIns="0">
            <a:spAutoFit/>
          </a:bodyPr>
          <a:lstStyle/>
          <a:p>
            <a:pPr algn="ctr">
              <a:lnSpc>
                <a:spcPts val="7679"/>
              </a:lnSpc>
            </a:pPr>
            <a:r>
              <a:rPr lang="en-US" b="true" sz="8532" spc="-494">
                <a:solidFill>
                  <a:srgbClr val="101B40"/>
                </a:solidFill>
                <a:latin typeface="Montserrat Bold"/>
                <a:ea typeface="Montserrat Bold"/>
                <a:cs typeface="Montserrat Bold"/>
                <a:sym typeface="Montserrat Bold"/>
              </a:rPr>
              <a:t>AN APPOINTMENT MANAGEMENT SYSTEM FOR GAWARAN MATERNAL CLINIC</a:t>
            </a:r>
          </a:p>
          <a:p>
            <a:pPr algn="ctr">
              <a:lnSpc>
                <a:spcPts val="7679"/>
              </a:lnSpc>
            </a:pPr>
          </a:p>
        </p:txBody>
      </p:sp>
      <p:sp>
        <p:nvSpPr>
          <p:cNvPr name="TextBox 7" id="7"/>
          <p:cNvSpPr txBox="true"/>
          <p:nvPr/>
        </p:nvSpPr>
        <p:spPr>
          <a:xfrm rot="0">
            <a:off x="804572" y="627964"/>
            <a:ext cx="6025231" cy="285832"/>
          </a:xfrm>
          <a:prstGeom prst="rect">
            <a:avLst/>
          </a:prstGeom>
        </p:spPr>
        <p:txBody>
          <a:bodyPr anchor="t" rtlCol="false" tIns="0" lIns="0" bIns="0" rIns="0">
            <a:spAutoFit/>
          </a:bodyPr>
          <a:lstStyle/>
          <a:p>
            <a:pPr algn="l" marL="0" indent="0" lvl="0">
              <a:lnSpc>
                <a:spcPts val="2235"/>
              </a:lnSpc>
            </a:pPr>
            <a:r>
              <a:rPr lang="en-US" b="true" sz="2051" spc="4">
                <a:solidFill>
                  <a:srgbClr val="101B40"/>
                </a:solidFill>
                <a:latin typeface="Montserrat Bold"/>
                <a:ea typeface="Montserrat Bold"/>
                <a:cs typeface="Montserrat Bold"/>
                <a:sym typeface="Montserrat Bold"/>
              </a:rPr>
              <a:t>CAVITE STATE UNIVERSITY - IMUS</a:t>
            </a:r>
          </a:p>
        </p:txBody>
      </p:sp>
      <p:sp>
        <p:nvSpPr>
          <p:cNvPr name="TextBox 8" id="8"/>
          <p:cNvSpPr txBox="true"/>
          <p:nvPr/>
        </p:nvSpPr>
        <p:spPr>
          <a:xfrm rot="0">
            <a:off x="1409789" y="8403045"/>
            <a:ext cx="2618330" cy="504465"/>
          </a:xfrm>
          <a:prstGeom prst="rect">
            <a:avLst/>
          </a:prstGeom>
        </p:spPr>
        <p:txBody>
          <a:bodyPr anchor="t" rtlCol="false" tIns="0" lIns="0" bIns="0" rIns="0">
            <a:spAutoFit/>
          </a:bodyPr>
          <a:lstStyle/>
          <a:p>
            <a:pPr algn="just">
              <a:lnSpc>
                <a:spcPts val="1999"/>
              </a:lnSpc>
            </a:pPr>
            <a:r>
              <a:rPr lang="en-US" b="true" sz="1851" spc="-131">
                <a:solidFill>
                  <a:srgbClr val="F4F4F4"/>
                </a:solidFill>
                <a:latin typeface="Montserrat Semi-Bold"/>
                <a:ea typeface="Montserrat Semi-Bold"/>
                <a:cs typeface="Montserrat Semi-Bold"/>
                <a:sym typeface="Montserrat Semi-Bold"/>
              </a:rPr>
              <a:t>WHERE INNOVATION MEETS OPPORTUNITY.</a:t>
            </a:r>
          </a:p>
        </p:txBody>
      </p:sp>
      <p:sp>
        <p:nvSpPr>
          <p:cNvPr name="TextBox 9" id="9"/>
          <p:cNvSpPr txBox="true"/>
          <p:nvPr/>
        </p:nvSpPr>
        <p:spPr>
          <a:xfrm rot="0">
            <a:off x="6316290" y="7061250"/>
            <a:ext cx="6074557" cy="2197050"/>
          </a:xfrm>
          <a:prstGeom prst="rect">
            <a:avLst/>
          </a:prstGeom>
        </p:spPr>
        <p:txBody>
          <a:bodyPr anchor="t" rtlCol="false" tIns="0" lIns="0" bIns="0" rIns="0">
            <a:spAutoFit/>
          </a:bodyPr>
          <a:lstStyle/>
          <a:p>
            <a:pPr algn="ctr">
              <a:lnSpc>
                <a:spcPts val="4425"/>
              </a:lnSpc>
            </a:pPr>
            <a:r>
              <a:rPr lang="en-US" sz="3253" spc="-139">
                <a:solidFill>
                  <a:srgbClr val="000000"/>
                </a:solidFill>
                <a:latin typeface="Montserrat"/>
                <a:ea typeface="Montserrat"/>
                <a:cs typeface="Montserrat"/>
                <a:sym typeface="Montserrat"/>
              </a:rPr>
              <a:t>PRENC</a:t>
            </a:r>
            <a:r>
              <a:rPr lang="en-US" sz="3253" spc="-139">
                <a:solidFill>
                  <a:srgbClr val="000000"/>
                </a:solidFill>
                <a:latin typeface="Montserrat"/>
                <a:ea typeface="Montserrat"/>
                <a:cs typeface="Montserrat"/>
                <a:sym typeface="Montserrat"/>
              </a:rPr>
              <a:t>IS JOY L. LIBRON</a:t>
            </a:r>
          </a:p>
          <a:p>
            <a:pPr algn="ctr">
              <a:lnSpc>
                <a:spcPts val="4425"/>
              </a:lnSpc>
            </a:pPr>
            <a:r>
              <a:rPr lang="en-US" sz="3253" spc="-139">
                <a:solidFill>
                  <a:srgbClr val="000000"/>
                </a:solidFill>
                <a:latin typeface="Montserrat"/>
                <a:ea typeface="Montserrat"/>
                <a:cs typeface="Montserrat"/>
                <a:sym typeface="Montserrat"/>
              </a:rPr>
              <a:t>BRYAN A. LONGALONG</a:t>
            </a:r>
          </a:p>
          <a:p>
            <a:pPr algn="ctr">
              <a:lnSpc>
                <a:spcPts val="4425"/>
              </a:lnSpc>
            </a:pPr>
            <a:r>
              <a:rPr lang="en-US" sz="3253" spc="-139">
                <a:solidFill>
                  <a:srgbClr val="000000"/>
                </a:solidFill>
                <a:latin typeface="Montserrat"/>
                <a:ea typeface="Montserrat"/>
                <a:cs typeface="Montserrat"/>
                <a:sym typeface="Montserrat"/>
              </a:rPr>
              <a:t>JASMINE A. VILLAFUERTE</a:t>
            </a:r>
          </a:p>
          <a:p>
            <a:pPr algn="ctr">
              <a:lnSpc>
                <a:spcPts val="4034"/>
              </a:lnSpc>
            </a:pPr>
          </a:p>
        </p:txBody>
      </p:sp>
      <p:sp>
        <p:nvSpPr>
          <p:cNvPr name="TextBox 10" id="10"/>
          <p:cNvSpPr txBox="true"/>
          <p:nvPr/>
        </p:nvSpPr>
        <p:spPr>
          <a:xfrm rot="0">
            <a:off x="6565466" y="9277350"/>
            <a:ext cx="6025231" cy="285832"/>
          </a:xfrm>
          <a:prstGeom prst="rect">
            <a:avLst/>
          </a:prstGeom>
        </p:spPr>
        <p:txBody>
          <a:bodyPr anchor="t" rtlCol="false" tIns="0" lIns="0" bIns="0" rIns="0">
            <a:spAutoFit/>
          </a:bodyPr>
          <a:lstStyle/>
          <a:p>
            <a:pPr algn="ctr" marL="0" indent="0" lvl="0">
              <a:lnSpc>
                <a:spcPts val="2235"/>
              </a:lnSpc>
            </a:pPr>
            <a:r>
              <a:rPr lang="en-US" b="true" sz="2051" spc="4">
                <a:solidFill>
                  <a:srgbClr val="101B40"/>
                </a:solidFill>
                <a:latin typeface="Montserrat Bold"/>
                <a:ea typeface="Montserrat Bold"/>
                <a:cs typeface="Montserrat Bold"/>
                <a:sym typeface="Montserrat Bold"/>
              </a:rPr>
              <a:t>SIR. VINCENT DALLEGO</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4789160" y="-264337"/>
            <a:ext cx="4264059" cy="10287000"/>
            <a:chOff x="0" y="0"/>
            <a:chExt cx="1123044" cy="2709333"/>
          </a:xfrm>
        </p:grpSpPr>
        <p:sp>
          <p:nvSpPr>
            <p:cNvPr name="Freeform 3" id="3"/>
            <p:cNvSpPr/>
            <p:nvPr/>
          </p:nvSpPr>
          <p:spPr>
            <a:xfrm flipH="false" flipV="false" rot="0">
              <a:off x="0" y="0"/>
              <a:ext cx="1123044" cy="2709333"/>
            </a:xfrm>
            <a:custGeom>
              <a:avLst/>
              <a:gdLst/>
              <a:ahLst/>
              <a:cxnLst/>
              <a:rect r="r" b="b" t="t" l="l"/>
              <a:pathLst>
                <a:path h="2709333" w="1123044">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a:srgbClr val="DCE2EB"/>
            </a:solidFill>
          </p:spPr>
        </p:sp>
        <p:sp>
          <p:nvSpPr>
            <p:cNvPr name="TextBox 4" id="4"/>
            <p:cNvSpPr txBox="true"/>
            <p:nvPr/>
          </p:nvSpPr>
          <p:spPr>
            <a:xfrm>
              <a:off x="0" y="-38100"/>
              <a:ext cx="1123044" cy="2747433"/>
            </a:xfrm>
            <a:prstGeom prst="rect">
              <a:avLst/>
            </a:prstGeom>
          </p:spPr>
          <p:txBody>
            <a:bodyPr anchor="ctr" rtlCol="false" tIns="50800" lIns="50800" bIns="50800" rIns="50800"/>
            <a:lstStyle/>
            <a:p>
              <a:pPr algn="ctr">
                <a:lnSpc>
                  <a:spcPts val="2591"/>
                </a:lnSpc>
              </a:pPr>
            </a:p>
          </p:txBody>
        </p:sp>
      </p:grpSp>
      <p:sp>
        <p:nvSpPr>
          <p:cNvPr name="TextBox 5" id="5"/>
          <p:cNvSpPr txBox="true"/>
          <p:nvPr/>
        </p:nvSpPr>
        <p:spPr>
          <a:xfrm rot="0">
            <a:off x="337526" y="2908401"/>
            <a:ext cx="17612949" cy="6166243"/>
          </a:xfrm>
          <a:prstGeom prst="rect">
            <a:avLst/>
          </a:prstGeom>
        </p:spPr>
        <p:txBody>
          <a:bodyPr anchor="t" rtlCol="false" tIns="0" lIns="0" bIns="0" rIns="0">
            <a:spAutoFit/>
          </a:bodyPr>
          <a:lstStyle/>
          <a:p>
            <a:pPr algn="l">
              <a:lnSpc>
                <a:spcPts val="4894"/>
              </a:lnSpc>
              <a:spcBef>
                <a:spcPct val="0"/>
              </a:spcBef>
            </a:pPr>
            <a:r>
              <a:rPr lang="en-US" sz="3496" spc="-202">
                <a:solidFill>
                  <a:srgbClr val="101B40"/>
                </a:solidFill>
                <a:latin typeface="Montserrat"/>
                <a:ea typeface="Montserrat"/>
                <a:cs typeface="Montserrat"/>
                <a:sym typeface="Montserrat"/>
              </a:rPr>
              <a:t>The system is a web-based clinic management platform developed for Gawaran Maternal Clinic to improve the efficiency and organization of its daily operations. It automates clinical transactions, secures patient information, and streamlines processes such as appointment scheduling, patient record management, and other administrative tasks. The purpose of the system is to modernize the clinic’s existing processes by replacing manual workflows with a reliable digital solution. Currently, the clinic relies on paper-based records and manual scheduling methods, which often lead to inefficiencies, delays, and human errors. Through the implementation of the system, the clinic can enhance productivity, improve data accuracy, and provide better healthcare services to patients.</a:t>
            </a:r>
          </a:p>
        </p:txBody>
      </p:sp>
      <p:sp>
        <p:nvSpPr>
          <p:cNvPr name="TextBox 6" id="6"/>
          <p:cNvSpPr txBox="true"/>
          <p:nvPr/>
        </p:nvSpPr>
        <p:spPr>
          <a:xfrm rot="0">
            <a:off x="2035478" y="1276350"/>
            <a:ext cx="14217044" cy="1048998"/>
          </a:xfrm>
          <a:prstGeom prst="rect">
            <a:avLst/>
          </a:prstGeom>
        </p:spPr>
        <p:txBody>
          <a:bodyPr anchor="t" rtlCol="false" tIns="0" lIns="0" bIns="0" rIns="0">
            <a:spAutoFit/>
          </a:bodyPr>
          <a:lstStyle/>
          <a:p>
            <a:pPr algn="ctr">
              <a:lnSpc>
                <a:spcPts val="7679"/>
              </a:lnSpc>
            </a:pPr>
            <a:r>
              <a:rPr lang="en-US" b="true" sz="8532" spc="-494">
                <a:solidFill>
                  <a:srgbClr val="101B40"/>
                </a:solidFill>
                <a:latin typeface="Montserrat Bold"/>
                <a:ea typeface="Montserrat Bold"/>
                <a:cs typeface="Montserrat Bold"/>
                <a:sym typeface="Montserrat Bold"/>
              </a:rPr>
              <a:t>INTRODUCTION</a:t>
            </a:r>
          </a:p>
        </p:txBody>
      </p:sp>
      <p:sp>
        <p:nvSpPr>
          <p:cNvPr name="TextBox 7" id="7"/>
          <p:cNvSpPr txBox="true"/>
          <p:nvPr/>
        </p:nvSpPr>
        <p:spPr>
          <a:xfrm rot="0">
            <a:off x="804572" y="627964"/>
            <a:ext cx="6025231" cy="285832"/>
          </a:xfrm>
          <a:prstGeom prst="rect">
            <a:avLst/>
          </a:prstGeom>
        </p:spPr>
        <p:txBody>
          <a:bodyPr anchor="t" rtlCol="false" tIns="0" lIns="0" bIns="0" rIns="0">
            <a:spAutoFit/>
          </a:bodyPr>
          <a:lstStyle/>
          <a:p>
            <a:pPr algn="l" marL="0" indent="0" lvl="0">
              <a:lnSpc>
                <a:spcPts val="2235"/>
              </a:lnSpc>
            </a:pPr>
            <a:r>
              <a:rPr lang="en-US" b="true" sz="2051" spc="4">
                <a:solidFill>
                  <a:srgbClr val="101B40"/>
                </a:solidFill>
                <a:latin typeface="Montserrat Bold"/>
                <a:ea typeface="Montserrat Bold"/>
                <a:cs typeface="Montserrat Bold"/>
                <a:sym typeface="Montserrat Bold"/>
              </a:rPr>
              <a:t>CAVITE STATE UNIVERSITY - IMUS</a:t>
            </a:r>
          </a:p>
        </p:txBody>
      </p:sp>
      <p:sp>
        <p:nvSpPr>
          <p:cNvPr name="TextBox 8" id="8"/>
          <p:cNvSpPr txBox="true"/>
          <p:nvPr/>
        </p:nvSpPr>
        <p:spPr>
          <a:xfrm rot="0">
            <a:off x="1409789" y="8403045"/>
            <a:ext cx="2618330" cy="504465"/>
          </a:xfrm>
          <a:prstGeom prst="rect">
            <a:avLst/>
          </a:prstGeom>
        </p:spPr>
        <p:txBody>
          <a:bodyPr anchor="t" rtlCol="false" tIns="0" lIns="0" bIns="0" rIns="0">
            <a:spAutoFit/>
          </a:bodyPr>
          <a:lstStyle/>
          <a:p>
            <a:pPr algn="just">
              <a:lnSpc>
                <a:spcPts val="1999"/>
              </a:lnSpc>
            </a:pPr>
            <a:r>
              <a:rPr lang="en-US" b="true" sz="1851" spc="-131">
                <a:solidFill>
                  <a:srgbClr val="F4F4F4"/>
                </a:solidFill>
                <a:latin typeface="Montserrat Semi-Bold"/>
                <a:ea typeface="Montserrat Semi-Bold"/>
                <a:cs typeface="Montserrat Semi-Bold"/>
                <a:sym typeface="Montserrat Semi-Bold"/>
              </a:rPr>
              <a:t>WHERE INNOVATION MEETS OPPORTUNITY.</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4789160" y="-264337"/>
            <a:ext cx="4264059" cy="10287000"/>
            <a:chOff x="0" y="0"/>
            <a:chExt cx="1123044" cy="2709333"/>
          </a:xfrm>
        </p:grpSpPr>
        <p:sp>
          <p:nvSpPr>
            <p:cNvPr name="Freeform 3" id="3"/>
            <p:cNvSpPr/>
            <p:nvPr/>
          </p:nvSpPr>
          <p:spPr>
            <a:xfrm flipH="false" flipV="false" rot="0">
              <a:off x="0" y="0"/>
              <a:ext cx="1123044" cy="2709333"/>
            </a:xfrm>
            <a:custGeom>
              <a:avLst/>
              <a:gdLst/>
              <a:ahLst/>
              <a:cxnLst/>
              <a:rect r="r" b="b" t="t" l="l"/>
              <a:pathLst>
                <a:path h="2709333" w="1123044">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a:srgbClr val="DCE2EB"/>
            </a:solidFill>
          </p:spPr>
        </p:sp>
        <p:sp>
          <p:nvSpPr>
            <p:cNvPr name="TextBox 4" id="4"/>
            <p:cNvSpPr txBox="true"/>
            <p:nvPr/>
          </p:nvSpPr>
          <p:spPr>
            <a:xfrm>
              <a:off x="0" y="-38100"/>
              <a:ext cx="1123044" cy="2747433"/>
            </a:xfrm>
            <a:prstGeom prst="rect">
              <a:avLst/>
            </a:prstGeom>
          </p:spPr>
          <p:txBody>
            <a:bodyPr anchor="ctr" rtlCol="false" tIns="50800" lIns="50800" bIns="50800" rIns="50800"/>
            <a:lstStyle/>
            <a:p>
              <a:pPr algn="ctr">
                <a:lnSpc>
                  <a:spcPts val="2591"/>
                </a:lnSpc>
              </a:pPr>
            </a:p>
          </p:txBody>
        </p:sp>
      </p:grpSp>
      <p:sp>
        <p:nvSpPr>
          <p:cNvPr name="TextBox 5" id="5"/>
          <p:cNvSpPr txBox="true"/>
          <p:nvPr/>
        </p:nvSpPr>
        <p:spPr>
          <a:xfrm rot="0">
            <a:off x="1028700" y="2936163"/>
            <a:ext cx="9205210" cy="5971347"/>
          </a:xfrm>
          <a:prstGeom prst="rect">
            <a:avLst/>
          </a:prstGeom>
        </p:spPr>
        <p:txBody>
          <a:bodyPr anchor="t" rtlCol="false" tIns="0" lIns="0" bIns="0" rIns="0">
            <a:spAutoFit/>
          </a:bodyPr>
          <a:lstStyle/>
          <a:p>
            <a:pPr algn="l" marL="1219890" indent="-609945" lvl="1">
              <a:lnSpc>
                <a:spcPts val="7910"/>
              </a:lnSpc>
              <a:spcBef>
                <a:spcPct val="0"/>
              </a:spcBef>
              <a:buFont typeface="Arial"/>
              <a:buChar char="•"/>
            </a:pPr>
            <a:r>
              <a:rPr lang="en-US" sz="5650" spc="-327">
                <a:solidFill>
                  <a:srgbClr val="101B40"/>
                </a:solidFill>
                <a:latin typeface="Montserrat"/>
                <a:ea typeface="Montserrat"/>
                <a:cs typeface="Montserrat"/>
                <a:sym typeface="Montserrat"/>
              </a:rPr>
              <a:t>Manual process</a:t>
            </a:r>
          </a:p>
          <a:p>
            <a:pPr algn="l" marL="1219890" indent="-609945" lvl="1">
              <a:lnSpc>
                <a:spcPts val="7910"/>
              </a:lnSpc>
              <a:spcBef>
                <a:spcPct val="0"/>
              </a:spcBef>
              <a:buFont typeface="Arial"/>
              <a:buChar char="•"/>
            </a:pPr>
            <a:r>
              <a:rPr lang="en-US" sz="5650" spc="-327">
                <a:solidFill>
                  <a:srgbClr val="101B40"/>
                </a:solidFill>
                <a:latin typeface="Montserrat"/>
                <a:ea typeface="Montserrat"/>
                <a:cs typeface="Montserrat"/>
                <a:sym typeface="Montserrat"/>
              </a:rPr>
              <a:t>Delays</a:t>
            </a:r>
          </a:p>
          <a:p>
            <a:pPr algn="l" marL="1219890" indent="-609945" lvl="1">
              <a:lnSpc>
                <a:spcPts val="7910"/>
              </a:lnSpc>
              <a:spcBef>
                <a:spcPct val="0"/>
              </a:spcBef>
              <a:buFont typeface="Arial"/>
              <a:buChar char="•"/>
            </a:pPr>
            <a:r>
              <a:rPr lang="en-US" sz="5650" spc="-327">
                <a:solidFill>
                  <a:srgbClr val="101B40"/>
                </a:solidFill>
                <a:latin typeface="Montserrat"/>
                <a:ea typeface="Montserrat"/>
                <a:cs typeface="Montserrat"/>
                <a:sym typeface="Montserrat"/>
              </a:rPr>
              <a:t>H</a:t>
            </a:r>
            <a:r>
              <a:rPr lang="en-US" sz="5650" spc="-327">
                <a:solidFill>
                  <a:srgbClr val="101B40"/>
                </a:solidFill>
                <a:latin typeface="Montserrat"/>
                <a:ea typeface="Montserrat"/>
                <a:cs typeface="Montserrat"/>
                <a:sym typeface="Montserrat"/>
              </a:rPr>
              <a:t>uman errors</a:t>
            </a:r>
          </a:p>
          <a:p>
            <a:pPr algn="l" marL="1219890" indent="-609945" lvl="1">
              <a:lnSpc>
                <a:spcPts val="7910"/>
              </a:lnSpc>
              <a:spcBef>
                <a:spcPct val="0"/>
              </a:spcBef>
              <a:buFont typeface="Arial"/>
              <a:buChar char="•"/>
            </a:pPr>
            <a:r>
              <a:rPr lang="en-US" sz="5650" spc="-327">
                <a:solidFill>
                  <a:srgbClr val="101B40"/>
                </a:solidFill>
                <a:latin typeface="Montserrat"/>
                <a:ea typeface="Montserrat"/>
                <a:cs typeface="Montserrat"/>
                <a:sym typeface="Montserrat"/>
              </a:rPr>
              <a:t>Long waiting time</a:t>
            </a:r>
          </a:p>
          <a:p>
            <a:pPr algn="l" marL="1219890" indent="-609945" lvl="1">
              <a:lnSpc>
                <a:spcPts val="7910"/>
              </a:lnSpc>
              <a:spcBef>
                <a:spcPct val="0"/>
              </a:spcBef>
              <a:buFont typeface="Arial"/>
              <a:buChar char="•"/>
            </a:pPr>
            <a:r>
              <a:rPr lang="en-US" sz="5650" spc="-327">
                <a:solidFill>
                  <a:srgbClr val="101B40"/>
                </a:solidFill>
                <a:latin typeface="Montserrat"/>
                <a:ea typeface="Montserrat"/>
                <a:cs typeface="Montserrat"/>
                <a:sym typeface="Montserrat"/>
              </a:rPr>
              <a:t>N</a:t>
            </a:r>
            <a:r>
              <a:rPr lang="en-US" sz="5650" spc="-327">
                <a:solidFill>
                  <a:srgbClr val="101B40"/>
                </a:solidFill>
                <a:latin typeface="Montserrat"/>
                <a:ea typeface="Montserrat"/>
                <a:cs typeface="Montserrat"/>
                <a:sym typeface="Montserrat"/>
              </a:rPr>
              <a:t>o real-time monitoring</a:t>
            </a:r>
          </a:p>
          <a:p>
            <a:pPr algn="l">
              <a:lnSpc>
                <a:spcPts val="7910"/>
              </a:lnSpc>
              <a:spcBef>
                <a:spcPct val="0"/>
              </a:spcBef>
            </a:pPr>
          </a:p>
        </p:txBody>
      </p:sp>
      <p:sp>
        <p:nvSpPr>
          <p:cNvPr name="TextBox 6" id="6"/>
          <p:cNvSpPr txBox="true"/>
          <p:nvPr/>
        </p:nvSpPr>
        <p:spPr>
          <a:xfrm rot="0">
            <a:off x="2035478" y="1276350"/>
            <a:ext cx="14217044" cy="2020548"/>
          </a:xfrm>
          <a:prstGeom prst="rect">
            <a:avLst/>
          </a:prstGeom>
        </p:spPr>
        <p:txBody>
          <a:bodyPr anchor="t" rtlCol="false" tIns="0" lIns="0" bIns="0" rIns="0">
            <a:spAutoFit/>
          </a:bodyPr>
          <a:lstStyle/>
          <a:p>
            <a:pPr algn="ctr">
              <a:lnSpc>
                <a:spcPts val="7679"/>
              </a:lnSpc>
            </a:pPr>
            <a:r>
              <a:rPr lang="en-US" b="true" sz="8532" spc="-494">
                <a:solidFill>
                  <a:srgbClr val="101B40"/>
                </a:solidFill>
                <a:latin typeface="Montserrat Bold"/>
                <a:ea typeface="Montserrat Bold"/>
                <a:cs typeface="Montserrat Bold"/>
                <a:sym typeface="Montserrat Bold"/>
              </a:rPr>
              <a:t>CURRENT PROBLEMS</a:t>
            </a:r>
          </a:p>
          <a:p>
            <a:pPr algn="ctr">
              <a:lnSpc>
                <a:spcPts val="7679"/>
              </a:lnSpc>
            </a:pPr>
          </a:p>
        </p:txBody>
      </p:sp>
      <p:sp>
        <p:nvSpPr>
          <p:cNvPr name="TextBox 7" id="7"/>
          <p:cNvSpPr txBox="true"/>
          <p:nvPr/>
        </p:nvSpPr>
        <p:spPr>
          <a:xfrm rot="0">
            <a:off x="804572" y="627964"/>
            <a:ext cx="6025231" cy="285832"/>
          </a:xfrm>
          <a:prstGeom prst="rect">
            <a:avLst/>
          </a:prstGeom>
        </p:spPr>
        <p:txBody>
          <a:bodyPr anchor="t" rtlCol="false" tIns="0" lIns="0" bIns="0" rIns="0">
            <a:spAutoFit/>
          </a:bodyPr>
          <a:lstStyle/>
          <a:p>
            <a:pPr algn="l" marL="0" indent="0" lvl="0">
              <a:lnSpc>
                <a:spcPts val="2235"/>
              </a:lnSpc>
            </a:pPr>
            <a:r>
              <a:rPr lang="en-US" b="true" sz="2051" spc="4">
                <a:solidFill>
                  <a:srgbClr val="101B40"/>
                </a:solidFill>
                <a:latin typeface="Montserrat Bold"/>
                <a:ea typeface="Montserrat Bold"/>
                <a:cs typeface="Montserrat Bold"/>
                <a:sym typeface="Montserrat Bold"/>
              </a:rPr>
              <a:t>CAVITE STATE UNIVERSITY - IMUS</a:t>
            </a:r>
          </a:p>
        </p:txBody>
      </p:sp>
      <p:sp>
        <p:nvSpPr>
          <p:cNvPr name="TextBox 8" id="8"/>
          <p:cNvSpPr txBox="true"/>
          <p:nvPr/>
        </p:nvSpPr>
        <p:spPr>
          <a:xfrm rot="0">
            <a:off x="1409789" y="8403045"/>
            <a:ext cx="2618330" cy="504465"/>
          </a:xfrm>
          <a:prstGeom prst="rect">
            <a:avLst/>
          </a:prstGeom>
        </p:spPr>
        <p:txBody>
          <a:bodyPr anchor="t" rtlCol="false" tIns="0" lIns="0" bIns="0" rIns="0">
            <a:spAutoFit/>
          </a:bodyPr>
          <a:lstStyle/>
          <a:p>
            <a:pPr algn="just">
              <a:lnSpc>
                <a:spcPts val="1999"/>
              </a:lnSpc>
            </a:pPr>
            <a:r>
              <a:rPr lang="en-US" b="true" sz="1851" spc="-131">
                <a:solidFill>
                  <a:srgbClr val="F4F4F4"/>
                </a:solidFill>
                <a:latin typeface="Montserrat Semi-Bold"/>
                <a:ea typeface="Montserrat Semi-Bold"/>
                <a:cs typeface="Montserrat Semi-Bold"/>
                <a:sym typeface="Montserrat Semi-Bold"/>
              </a:rPr>
              <a:t>WHERE INNOVATION MEETS OPPORTUNITY.</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4789160" y="-264337"/>
            <a:ext cx="4264059" cy="10287000"/>
            <a:chOff x="0" y="0"/>
            <a:chExt cx="1123044" cy="2709333"/>
          </a:xfrm>
        </p:grpSpPr>
        <p:sp>
          <p:nvSpPr>
            <p:cNvPr name="Freeform 3" id="3"/>
            <p:cNvSpPr/>
            <p:nvPr/>
          </p:nvSpPr>
          <p:spPr>
            <a:xfrm flipH="false" flipV="false" rot="0">
              <a:off x="0" y="0"/>
              <a:ext cx="1123044" cy="2709333"/>
            </a:xfrm>
            <a:custGeom>
              <a:avLst/>
              <a:gdLst/>
              <a:ahLst/>
              <a:cxnLst/>
              <a:rect r="r" b="b" t="t" l="l"/>
              <a:pathLst>
                <a:path h="2709333" w="1123044">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a:srgbClr val="DCE2EB"/>
            </a:solidFill>
          </p:spPr>
        </p:sp>
        <p:sp>
          <p:nvSpPr>
            <p:cNvPr name="TextBox 4" id="4"/>
            <p:cNvSpPr txBox="true"/>
            <p:nvPr/>
          </p:nvSpPr>
          <p:spPr>
            <a:xfrm>
              <a:off x="0" y="-38100"/>
              <a:ext cx="1123044" cy="2747433"/>
            </a:xfrm>
            <a:prstGeom prst="rect">
              <a:avLst/>
            </a:prstGeom>
          </p:spPr>
          <p:txBody>
            <a:bodyPr anchor="ctr" rtlCol="false" tIns="50800" lIns="50800" bIns="50800" rIns="50800"/>
            <a:lstStyle/>
            <a:p>
              <a:pPr algn="ctr">
                <a:lnSpc>
                  <a:spcPts val="2591"/>
                </a:lnSpc>
              </a:pPr>
            </a:p>
          </p:txBody>
        </p:sp>
      </p:grpSp>
      <p:sp>
        <p:nvSpPr>
          <p:cNvPr name="TextBox 5" id="5"/>
          <p:cNvSpPr txBox="true"/>
          <p:nvPr/>
        </p:nvSpPr>
        <p:spPr>
          <a:xfrm rot="0">
            <a:off x="1028700" y="3333588"/>
            <a:ext cx="16230600" cy="6308732"/>
          </a:xfrm>
          <a:prstGeom prst="rect">
            <a:avLst/>
          </a:prstGeom>
        </p:spPr>
        <p:txBody>
          <a:bodyPr anchor="t" rtlCol="false" tIns="0" lIns="0" bIns="0" rIns="0">
            <a:spAutoFit/>
          </a:bodyPr>
          <a:lstStyle/>
          <a:p>
            <a:pPr algn="l" marL="863540" indent="-431770" lvl="1">
              <a:lnSpc>
                <a:spcPts val="5599"/>
              </a:lnSpc>
              <a:spcBef>
                <a:spcPct val="0"/>
              </a:spcBef>
              <a:buFont typeface="Arial"/>
              <a:buChar char="•"/>
            </a:pPr>
            <a:r>
              <a:rPr lang="en-US" b="true" sz="3999" spc="-231">
                <a:solidFill>
                  <a:srgbClr val="101B40"/>
                </a:solidFill>
                <a:latin typeface="Montserrat Bold"/>
                <a:ea typeface="Montserrat Bold"/>
                <a:cs typeface="Montserrat Bold"/>
                <a:sym typeface="Montserrat Bold"/>
              </a:rPr>
              <a:t>Ge</a:t>
            </a:r>
            <a:r>
              <a:rPr lang="en-US" b="true" sz="3999" spc="-231">
                <a:solidFill>
                  <a:srgbClr val="101B40"/>
                </a:solidFill>
                <a:latin typeface="Montserrat Bold"/>
                <a:ea typeface="Montserrat Bold"/>
                <a:cs typeface="Montserrat Bold"/>
                <a:sym typeface="Montserrat Bold"/>
              </a:rPr>
              <a:t>neral Objective: </a:t>
            </a:r>
            <a:r>
              <a:rPr lang="en-US" sz="3999" spc="-231">
                <a:solidFill>
                  <a:srgbClr val="101B40"/>
                </a:solidFill>
                <a:latin typeface="Montserrat"/>
                <a:ea typeface="Montserrat"/>
                <a:cs typeface="Montserrat"/>
                <a:sym typeface="Montserrat"/>
              </a:rPr>
              <a:t>Develop a secure web-based clinic management portal</a:t>
            </a:r>
          </a:p>
          <a:p>
            <a:pPr algn="l">
              <a:lnSpc>
                <a:spcPts val="5599"/>
              </a:lnSpc>
              <a:spcBef>
                <a:spcPct val="0"/>
              </a:spcBef>
            </a:pPr>
            <a:r>
              <a:rPr lang="en-US" b="true" sz="3999" spc="-231">
                <a:solidFill>
                  <a:srgbClr val="101B40"/>
                </a:solidFill>
                <a:latin typeface="Montserrat Bold"/>
                <a:ea typeface="Montserrat Bold"/>
                <a:cs typeface="Montserrat Bold"/>
                <a:sym typeface="Montserrat Bold"/>
              </a:rPr>
              <a:t>Specific Objectives:</a:t>
            </a:r>
          </a:p>
          <a:p>
            <a:pPr algn="l" marL="863540" indent="-431770" lvl="1">
              <a:lnSpc>
                <a:spcPts val="5599"/>
              </a:lnSpc>
              <a:spcBef>
                <a:spcPct val="0"/>
              </a:spcBef>
              <a:buFont typeface="Arial"/>
              <a:buChar char="•"/>
            </a:pPr>
            <a:r>
              <a:rPr lang="en-US" sz="3999" spc="-231">
                <a:solidFill>
                  <a:srgbClr val="101B40"/>
                </a:solidFill>
                <a:latin typeface="Montserrat"/>
                <a:ea typeface="Montserrat"/>
                <a:cs typeface="Montserrat"/>
                <a:sym typeface="Montserrat"/>
              </a:rPr>
              <a:t> A</a:t>
            </a:r>
            <a:r>
              <a:rPr lang="en-US" sz="3999" spc="-231">
                <a:solidFill>
                  <a:srgbClr val="101B40"/>
                </a:solidFill>
                <a:latin typeface="Montserrat"/>
                <a:ea typeface="Montserrat"/>
                <a:cs typeface="Montserrat"/>
                <a:sym typeface="Montserrat"/>
              </a:rPr>
              <a:t>utomate key transactions (registration, authentication, portal access)</a:t>
            </a:r>
          </a:p>
          <a:p>
            <a:pPr algn="l" marL="863540" indent="-431770" lvl="1">
              <a:lnSpc>
                <a:spcPts val="5599"/>
              </a:lnSpc>
              <a:spcBef>
                <a:spcPct val="0"/>
              </a:spcBef>
              <a:buFont typeface="Arial"/>
              <a:buChar char="•"/>
            </a:pPr>
            <a:r>
              <a:rPr lang="en-US" sz="3999" spc="-231">
                <a:solidFill>
                  <a:srgbClr val="101B40"/>
                </a:solidFill>
                <a:latin typeface="Montserrat"/>
                <a:ea typeface="Montserrat"/>
                <a:cs typeface="Montserrat"/>
                <a:sym typeface="Montserrat"/>
              </a:rPr>
              <a:t>Generate dashb</a:t>
            </a:r>
            <a:r>
              <a:rPr lang="en-US" sz="3999" spc="-231">
                <a:solidFill>
                  <a:srgbClr val="101B40"/>
                </a:solidFill>
                <a:latin typeface="Montserrat"/>
                <a:ea typeface="Montserrat"/>
                <a:cs typeface="Montserrat"/>
                <a:sym typeface="Montserrat"/>
              </a:rPr>
              <a:t>oards and basic reports for monitoring</a:t>
            </a:r>
          </a:p>
          <a:p>
            <a:pPr algn="l" marL="863540" indent="-431770" lvl="1">
              <a:lnSpc>
                <a:spcPts val="5599"/>
              </a:lnSpc>
              <a:spcBef>
                <a:spcPct val="0"/>
              </a:spcBef>
              <a:buFont typeface="Arial"/>
              <a:buChar char="•"/>
            </a:pPr>
            <a:r>
              <a:rPr lang="en-US" sz="3999" spc="-231">
                <a:solidFill>
                  <a:srgbClr val="101B40"/>
                </a:solidFill>
                <a:latin typeface="Montserrat"/>
                <a:ea typeface="Montserrat"/>
                <a:cs typeface="Montserrat"/>
                <a:sym typeface="Montserrat"/>
              </a:rPr>
              <a:t>Improve monitoring through centralized widgets and charts</a:t>
            </a:r>
          </a:p>
          <a:p>
            <a:pPr algn="l" marL="863540" indent="-431770" lvl="1">
              <a:lnSpc>
                <a:spcPts val="5599"/>
              </a:lnSpc>
              <a:spcBef>
                <a:spcPct val="0"/>
              </a:spcBef>
              <a:buFont typeface="Arial"/>
              <a:buChar char="•"/>
            </a:pPr>
            <a:r>
              <a:rPr lang="en-US" sz="3999" spc="-231">
                <a:solidFill>
                  <a:srgbClr val="101B40"/>
                </a:solidFill>
                <a:latin typeface="Montserrat"/>
                <a:ea typeface="Montserrat"/>
                <a:cs typeface="Montserrat"/>
                <a:sym typeface="Montserrat"/>
              </a:rPr>
              <a:t> Reduce manual errors via validation and standardized workflows</a:t>
            </a:r>
          </a:p>
          <a:p>
            <a:pPr algn="l">
              <a:lnSpc>
                <a:spcPts val="5599"/>
              </a:lnSpc>
              <a:spcBef>
                <a:spcPct val="0"/>
              </a:spcBef>
            </a:pPr>
          </a:p>
        </p:txBody>
      </p:sp>
      <p:sp>
        <p:nvSpPr>
          <p:cNvPr name="TextBox 6" id="6"/>
          <p:cNvSpPr txBox="true"/>
          <p:nvPr/>
        </p:nvSpPr>
        <p:spPr>
          <a:xfrm rot="0">
            <a:off x="2035478" y="1276350"/>
            <a:ext cx="14217044" cy="2992098"/>
          </a:xfrm>
          <a:prstGeom prst="rect">
            <a:avLst/>
          </a:prstGeom>
        </p:spPr>
        <p:txBody>
          <a:bodyPr anchor="t" rtlCol="false" tIns="0" lIns="0" bIns="0" rIns="0">
            <a:spAutoFit/>
          </a:bodyPr>
          <a:lstStyle/>
          <a:p>
            <a:pPr algn="ctr">
              <a:lnSpc>
                <a:spcPts val="7679"/>
              </a:lnSpc>
            </a:pPr>
            <a:r>
              <a:rPr lang="en-US" b="true" sz="8532" spc="-494">
                <a:solidFill>
                  <a:srgbClr val="101B40"/>
                </a:solidFill>
                <a:latin typeface="Montserrat Bold"/>
                <a:ea typeface="Montserrat Bold"/>
                <a:cs typeface="Montserrat Bold"/>
                <a:sym typeface="Montserrat Bold"/>
              </a:rPr>
              <a:t>OBJECTIVES OF THE STUDY</a:t>
            </a:r>
          </a:p>
          <a:p>
            <a:pPr algn="ctr">
              <a:lnSpc>
                <a:spcPts val="7679"/>
              </a:lnSpc>
            </a:pPr>
          </a:p>
        </p:txBody>
      </p:sp>
      <p:sp>
        <p:nvSpPr>
          <p:cNvPr name="TextBox 7" id="7"/>
          <p:cNvSpPr txBox="true"/>
          <p:nvPr/>
        </p:nvSpPr>
        <p:spPr>
          <a:xfrm rot="0">
            <a:off x="804572" y="627964"/>
            <a:ext cx="6025231" cy="285832"/>
          </a:xfrm>
          <a:prstGeom prst="rect">
            <a:avLst/>
          </a:prstGeom>
        </p:spPr>
        <p:txBody>
          <a:bodyPr anchor="t" rtlCol="false" tIns="0" lIns="0" bIns="0" rIns="0">
            <a:spAutoFit/>
          </a:bodyPr>
          <a:lstStyle/>
          <a:p>
            <a:pPr algn="l" marL="0" indent="0" lvl="0">
              <a:lnSpc>
                <a:spcPts val="2235"/>
              </a:lnSpc>
            </a:pPr>
            <a:r>
              <a:rPr lang="en-US" b="true" sz="2051" spc="4">
                <a:solidFill>
                  <a:srgbClr val="101B40"/>
                </a:solidFill>
                <a:latin typeface="Montserrat Bold"/>
                <a:ea typeface="Montserrat Bold"/>
                <a:cs typeface="Montserrat Bold"/>
                <a:sym typeface="Montserrat Bold"/>
              </a:rPr>
              <a:t>CAVITE STATE UNIVERSITY - IMUS</a:t>
            </a:r>
          </a:p>
        </p:txBody>
      </p:sp>
      <p:sp>
        <p:nvSpPr>
          <p:cNvPr name="TextBox 8" id="8"/>
          <p:cNvSpPr txBox="true"/>
          <p:nvPr/>
        </p:nvSpPr>
        <p:spPr>
          <a:xfrm rot="0">
            <a:off x="1409789" y="8403045"/>
            <a:ext cx="2618330" cy="504465"/>
          </a:xfrm>
          <a:prstGeom prst="rect">
            <a:avLst/>
          </a:prstGeom>
        </p:spPr>
        <p:txBody>
          <a:bodyPr anchor="t" rtlCol="false" tIns="0" lIns="0" bIns="0" rIns="0">
            <a:spAutoFit/>
          </a:bodyPr>
          <a:lstStyle/>
          <a:p>
            <a:pPr algn="just">
              <a:lnSpc>
                <a:spcPts val="1999"/>
              </a:lnSpc>
            </a:pPr>
            <a:r>
              <a:rPr lang="en-US" b="true" sz="1851" spc="-131">
                <a:solidFill>
                  <a:srgbClr val="F4F4F4"/>
                </a:solidFill>
                <a:latin typeface="Montserrat Semi-Bold"/>
                <a:ea typeface="Montserrat Semi-Bold"/>
                <a:cs typeface="Montserrat Semi-Bold"/>
                <a:sym typeface="Montserrat Semi-Bold"/>
              </a:rPr>
              <a:t>WHERE INNOVATION MEETS OPPORTUNITY.</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4789160" y="-264337"/>
            <a:ext cx="4264059" cy="10287000"/>
            <a:chOff x="0" y="0"/>
            <a:chExt cx="1123044" cy="2709333"/>
          </a:xfrm>
        </p:grpSpPr>
        <p:sp>
          <p:nvSpPr>
            <p:cNvPr name="Freeform 3" id="3"/>
            <p:cNvSpPr/>
            <p:nvPr/>
          </p:nvSpPr>
          <p:spPr>
            <a:xfrm flipH="false" flipV="false" rot="0">
              <a:off x="0" y="0"/>
              <a:ext cx="1123044" cy="2709333"/>
            </a:xfrm>
            <a:custGeom>
              <a:avLst/>
              <a:gdLst/>
              <a:ahLst/>
              <a:cxnLst/>
              <a:rect r="r" b="b" t="t" l="l"/>
              <a:pathLst>
                <a:path h="2709333" w="1123044">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a:srgbClr val="DCE2EB"/>
            </a:solidFill>
          </p:spPr>
        </p:sp>
        <p:sp>
          <p:nvSpPr>
            <p:cNvPr name="TextBox 4" id="4"/>
            <p:cNvSpPr txBox="true"/>
            <p:nvPr/>
          </p:nvSpPr>
          <p:spPr>
            <a:xfrm>
              <a:off x="0" y="-38100"/>
              <a:ext cx="1123044" cy="2747433"/>
            </a:xfrm>
            <a:prstGeom prst="rect">
              <a:avLst/>
            </a:prstGeom>
          </p:spPr>
          <p:txBody>
            <a:bodyPr anchor="ctr" rtlCol="false" tIns="50800" lIns="50800" bIns="50800" rIns="50800"/>
            <a:lstStyle/>
            <a:p>
              <a:pPr algn="ctr">
                <a:lnSpc>
                  <a:spcPts val="2591"/>
                </a:lnSpc>
              </a:pPr>
            </a:p>
          </p:txBody>
        </p:sp>
      </p:grpSp>
      <p:sp>
        <p:nvSpPr>
          <p:cNvPr name="TextBox 5" id="5"/>
          <p:cNvSpPr txBox="true"/>
          <p:nvPr/>
        </p:nvSpPr>
        <p:spPr>
          <a:xfrm rot="0">
            <a:off x="1028700" y="2902624"/>
            <a:ext cx="16076771" cy="5497064"/>
          </a:xfrm>
          <a:prstGeom prst="rect">
            <a:avLst/>
          </a:prstGeom>
        </p:spPr>
        <p:txBody>
          <a:bodyPr anchor="t" rtlCol="false" tIns="0" lIns="0" bIns="0" rIns="0">
            <a:spAutoFit/>
          </a:bodyPr>
          <a:lstStyle/>
          <a:p>
            <a:pPr algn="l" marL="1123790" indent="-561895" lvl="1">
              <a:lnSpc>
                <a:spcPts val="7287"/>
              </a:lnSpc>
              <a:spcBef>
                <a:spcPct val="0"/>
              </a:spcBef>
              <a:buFont typeface="Arial"/>
              <a:buChar char="•"/>
            </a:pPr>
            <a:r>
              <a:rPr lang="en-US" b="true" sz="5205" spc="-301">
                <a:solidFill>
                  <a:srgbClr val="101B40"/>
                </a:solidFill>
                <a:latin typeface="Montserrat Bold"/>
                <a:ea typeface="Montserrat Bold"/>
                <a:cs typeface="Montserrat Bold"/>
                <a:sym typeface="Montserrat Bold"/>
              </a:rPr>
              <a:t>S</a:t>
            </a:r>
            <a:r>
              <a:rPr lang="en-US" b="true" sz="5205" spc="-301">
                <a:solidFill>
                  <a:srgbClr val="101B40"/>
                </a:solidFill>
                <a:latin typeface="Montserrat Bold"/>
                <a:ea typeface="Montserrat Bold"/>
                <a:cs typeface="Montserrat Bold"/>
                <a:sym typeface="Montserrat Bold"/>
              </a:rPr>
              <a:t>cope:</a:t>
            </a:r>
            <a:r>
              <a:rPr lang="en-US" sz="5205" spc="-301">
                <a:solidFill>
                  <a:srgbClr val="101B40"/>
                </a:solidFill>
                <a:latin typeface="Montserrat"/>
                <a:ea typeface="Montserrat"/>
                <a:cs typeface="Montserrat"/>
                <a:sym typeface="Montserrat"/>
              </a:rPr>
              <a:t>  role-based portals</a:t>
            </a:r>
            <a:r>
              <a:rPr lang="en-US" sz="5205" spc="-301">
                <a:solidFill>
                  <a:srgbClr val="101B40"/>
                </a:solidFill>
                <a:latin typeface="Montserrat"/>
                <a:ea typeface="Montserrat"/>
                <a:cs typeface="Montserrat"/>
                <a:sym typeface="Montserrat"/>
              </a:rPr>
              <a:t> (</a:t>
            </a:r>
            <a:r>
              <a:rPr lang="en-US" sz="5205" spc="-301">
                <a:solidFill>
                  <a:srgbClr val="101B40"/>
                </a:solidFill>
                <a:latin typeface="Montserrat"/>
                <a:ea typeface="Montserrat"/>
                <a:cs typeface="Montserrat"/>
                <a:sym typeface="Montserrat"/>
              </a:rPr>
              <a:t>admin/doctor/nurse/staff/patient), </a:t>
            </a:r>
            <a:r>
              <a:rPr lang="en-US" sz="5205" spc="-301">
                <a:solidFill>
                  <a:srgbClr val="101B40"/>
                </a:solidFill>
                <a:latin typeface="Montserrat"/>
                <a:ea typeface="Montserrat"/>
                <a:cs typeface="Montserrat"/>
                <a:sym typeface="Montserrat"/>
              </a:rPr>
              <a:t>dashb</a:t>
            </a:r>
            <a:r>
              <a:rPr lang="en-US" sz="5205" spc="-301">
                <a:solidFill>
                  <a:srgbClr val="101B40"/>
                </a:solidFill>
                <a:latin typeface="Montserrat"/>
                <a:ea typeface="Montserrat"/>
                <a:cs typeface="Montserrat"/>
                <a:sym typeface="Montserrat"/>
              </a:rPr>
              <a:t>oards, auth + 2FA, audit logs</a:t>
            </a:r>
          </a:p>
          <a:p>
            <a:pPr algn="l" marL="1123790" indent="-561895" lvl="1">
              <a:lnSpc>
                <a:spcPts val="7287"/>
              </a:lnSpc>
              <a:spcBef>
                <a:spcPct val="0"/>
              </a:spcBef>
              <a:buFont typeface="Arial"/>
              <a:buChar char="•"/>
            </a:pPr>
            <a:r>
              <a:rPr lang="en-US" b="true" sz="5205" spc="-301">
                <a:solidFill>
                  <a:srgbClr val="101B40"/>
                </a:solidFill>
                <a:latin typeface="Montserrat Bold"/>
                <a:ea typeface="Montserrat Bold"/>
                <a:cs typeface="Montserrat Bold"/>
                <a:sym typeface="Montserrat Bold"/>
              </a:rPr>
              <a:t>Limitations :</a:t>
            </a:r>
            <a:r>
              <a:rPr lang="en-US" sz="5205" spc="-301">
                <a:solidFill>
                  <a:srgbClr val="101B40"/>
                </a:solidFill>
                <a:latin typeface="Montserrat"/>
                <a:ea typeface="Montserrat"/>
                <a:cs typeface="Montserrat"/>
                <a:sym typeface="Montserrat"/>
              </a:rPr>
              <a:t>  no mobile app, limited real-time updates, advanced clinical workflows not included</a:t>
            </a:r>
          </a:p>
          <a:p>
            <a:pPr algn="l">
              <a:lnSpc>
                <a:spcPts val="7287"/>
              </a:lnSpc>
              <a:spcBef>
                <a:spcPct val="0"/>
              </a:spcBef>
            </a:pPr>
          </a:p>
        </p:txBody>
      </p:sp>
      <p:sp>
        <p:nvSpPr>
          <p:cNvPr name="TextBox 6" id="6"/>
          <p:cNvSpPr txBox="true"/>
          <p:nvPr/>
        </p:nvSpPr>
        <p:spPr>
          <a:xfrm rot="0">
            <a:off x="2035478" y="1276350"/>
            <a:ext cx="14217044" cy="2020548"/>
          </a:xfrm>
          <a:prstGeom prst="rect">
            <a:avLst/>
          </a:prstGeom>
        </p:spPr>
        <p:txBody>
          <a:bodyPr anchor="t" rtlCol="false" tIns="0" lIns="0" bIns="0" rIns="0">
            <a:spAutoFit/>
          </a:bodyPr>
          <a:lstStyle/>
          <a:p>
            <a:pPr algn="ctr">
              <a:lnSpc>
                <a:spcPts val="7679"/>
              </a:lnSpc>
            </a:pPr>
            <a:r>
              <a:rPr lang="en-US" b="true" sz="8532" spc="-494">
                <a:solidFill>
                  <a:srgbClr val="101B40"/>
                </a:solidFill>
                <a:latin typeface="Montserrat Bold"/>
                <a:ea typeface="Montserrat Bold"/>
                <a:cs typeface="Montserrat Bold"/>
                <a:sym typeface="Montserrat Bold"/>
              </a:rPr>
              <a:t>SCOPE AND LIMITATIONS</a:t>
            </a:r>
          </a:p>
          <a:p>
            <a:pPr algn="ctr">
              <a:lnSpc>
                <a:spcPts val="7679"/>
              </a:lnSpc>
            </a:pPr>
          </a:p>
        </p:txBody>
      </p:sp>
      <p:sp>
        <p:nvSpPr>
          <p:cNvPr name="TextBox 7" id="7"/>
          <p:cNvSpPr txBox="true"/>
          <p:nvPr/>
        </p:nvSpPr>
        <p:spPr>
          <a:xfrm rot="0">
            <a:off x="804572" y="627964"/>
            <a:ext cx="6025231" cy="285832"/>
          </a:xfrm>
          <a:prstGeom prst="rect">
            <a:avLst/>
          </a:prstGeom>
        </p:spPr>
        <p:txBody>
          <a:bodyPr anchor="t" rtlCol="false" tIns="0" lIns="0" bIns="0" rIns="0">
            <a:spAutoFit/>
          </a:bodyPr>
          <a:lstStyle/>
          <a:p>
            <a:pPr algn="l" marL="0" indent="0" lvl="0">
              <a:lnSpc>
                <a:spcPts val="2235"/>
              </a:lnSpc>
            </a:pPr>
            <a:r>
              <a:rPr lang="en-US" b="true" sz="2051" spc="4">
                <a:solidFill>
                  <a:srgbClr val="101B40"/>
                </a:solidFill>
                <a:latin typeface="Montserrat Bold"/>
                <a:ea typeface="Montserrat Bold"/>
                <a:cs typeface="Montserrat Bold"/>
                <a:sym typeface="Montserrat Bold"/>
              </a:rPr>
              <a:t>CAVITE STATE UNIVERSITY - IMUS</a:t>
            </a:r>
          </a:p>
        </p:txBody>
      </p:sp>
      <p:sp>
        <p:nvSpPr>
          <p:cNvPr name="TextBox 8" id="8"/>
          <p:cNvSpPr txBox="true"/>
          <p:nvPr/>
        </p:nvSpPr>
        <p:spPr>
          <a:xfrm rot="0">
            <a:off x="1409789" y="8403045"/>
            <a:ext cx="2618330" cy="504465"/>
          </a:xfrm>
          <a:prstGeom prst="rect">
            <a:avLst/>
          </a:prstGeom>
        </p:spPr>
        <p:txBody>
          <a:bodyPr anchor="t" rtlCol="false" tIns="0" lIns="0" bIns="0" rIns="0">
            <a:spAutoFit/>
          </a:bodyPr>
          <a:lstStyle/>
          <a:p>
            <a:pPr algn="just">
              <a:lnSpc>
                <a:spcPts val="1999"/>
              </a:lnSpc>
            </a:pPr>
            <a:r>
              <a:rPr lang="en-US" b="true" sz="1851" spc="-131">
                <a:solidFill>
                  <a:srgbClr val="F4F4F4"/>
                </a:solidFill>
                <a:latin typeface="Montserrat Semi-Bold"/>
                <a:ea typeface="Montserrat Semi-Bold"/>
                <a:cs typeface="Montserrat Semi-Bold"/>
                <a:sym typeface="Montserrat Semi-Bold"/>
              </a:rPr>
              <a:t>WHERE INNOVATION MEETS OPPORTUNITY.</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4789160" y="-264337"/>
            <a:ext cx="4264059" cy="10287000"/>
            <a:chOff x="0" y="0"/>
            <a:chExt cx="1123044" cy="2709333"/>
          </a:xfrm>
        </p:grpSpPr>
        <p:sp>
          <p:nvSpPr>
            <p:cNvPr name="Freeform 3" id="3"/>
            <p:cNvSpPr/>
            <p:nvPr/>
          </p:nvSpPr>
          <p:spPr>
            <a:xfrm flipH="false" flipV="false" rot="0">
              <a:off x="0" y="0"/>
              <a:ext cx="1123044" cy="2709333"/>
            </a:xfrm>
            <a:custGeom>
              <a:avLst/>
              <a:gdLst/>
              <a:ahLst/>
              <a:cxnLst/>
              <a:rect r="r" b="b" t="t" l="l"/>
              <a:pathLst>
                <a:path h="2709333" w="1123044">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a:srgbClr val="DCE2EB"/>
            </a:solidFill>
          </p:spPr>
        </p:sp>
        <p:sp>
          <p:nvSpPr>
            <p:cNvPr name="TextBox 4" id="4"/>
            <p:cNvSpPr txBox="true"/>
            <p:nvPr/>
          </p:nvSpPr>
          <p:spPr>
            <a:xfrm>
              <a:off x="0" y="-38100"/>
              <a:ext cx="1123044" cy="2747433"/>
            </a:xfrm>
            <a:prstGeom prst="rect">
              <a:avLst/>
            </a:prstGeom>
          </p:spPr>
          <p:txBody>
            <a:bodyPr anchor="ctr" rtlCol="false" tIns="50800" lIns="50800" bIns="50800" rIns="50800"/>
            <a:lstStyle/>
            <a:p>
              <a:pPr algn="ctr">
                <a:lnSpc>
                  <a:spcPts val="2591"/>
                </a:lnSpc>
              </a:pPr>
            </a:p>
          </p:txBody>
        </p:sp>
      </p:grpSp>
      <p:sp>
        <p:nvSpPr>
          <p:cNvPr name="TextBox 5" id="5"/>
          <p:cNvSpPr txBox="true"/>
          <p:nvPr/>
        </p:nvSpPr>
        <p:spPr>
          <a:xfrm rot="0">
            <a:off x="648908" y="2346289"/>
            <a:ext cx="16990184" cy="7903586"/>
          </a:xfrm>
          <a:prstGeom prst="rect">
            <a:avLst/>
          </a:prstGeom>
        </p:spPr>
        <p:txBody>
          <a:bodyPr anchor="t" rtlCol="false" tIns="0" lIns="0" bIns="0" rIns="0">
            <a:spAutoFit/>
          </a:bodyPr>
          <a:lstStyle/>
          <a:p>
            <a:pPr algn="l" marL="747059" indent="-373529" lvl="1">
              <a:lnSpc>
                <a:spcPts val="4844"/>
              </a:lnSpc>
              <a:spcBef>
                <a:spcPct val="0"/>
              </a:spcBef>
              <a:buFont typeface="Arial"/>
              <a:buChar char="•"/>
            </a:pPr>
            <a:r>
              <a:rPr lang="en-US" b="true" sz="3460" spc="-200">
                <a:solidFill>
                  <a:srgbClr val="101B40"/>
                </a:solidFill>
                <a:latin typeface="Montserrat Bold"/>
                <a:ea typeface="Montserrat Bold"/>
                <a:cs typeface="Montserrat Bold"/>
                <a:sym typeface="Montserrat Bold"/>
              </a:rPr>
              <a:t>Fr</a:t>
            </a:r>
            <a:r>
              <a:rPr lang="en-US" b="true" sz="3460" spc="-200">
                <a:solidFill>
                  <a:srgbClr val="101B40"/>
                </a:solidFill>
                <a:latin typeface="Montserrat Bold"/>
                <a:ea typeface="Montserrat Bold"/>
                <a:cs typeface="Montserrat Bold"/>
                <a:sym typeface="Montserrat Bold"/>
              </a:rPr>
              <a:t>ontend: </a:t>
            </a:r>
            <a:r>
              <a:rPr lang="en-US" sz="3460" spc="-200">
                <a:solidFill>
                  <a:srgbClr val="101B40"/>
                </a:solidFill>
                <a:latin typeface="Montserrat"/>
                <a:ea typeface="Montserrat"/>
                <a:cs typeface="Montserrat"/>
                <a:sym typeface="Montserrat"/>
              </a:rPr>
              <a:t>The system uses public/ HTML, CSS, and JavaScript pages for the user interface, including portals</a:t>
            </a:r>
            <a:r>
              <a:rPr lang="en-US" sz="3460" spc="-200">
                <a:solidFill>
                  <a:srgbClr val="101B40"/>
                </a:solidFill>
                <a:latin typeface="Montserrat"/>
                <a:ea typeface="Montserrat"/>
                <a:cs typeface="Montserrat"/>
                <a:sym typeface="Montserrat"/>
              </a:rPr>
              <a:t> and d</a:t>
            </a:r>
            <a:r>
              <a:rPr lang="en-US" sz="3460" spc="-200">
                <a:solidFill>
                  <a:srgbClr val="101B40"/>
                </a:solidFill>
                <a:latin typeface="Montserrat"/>
                <a:ea typeface="Montserrat"/>
                <a:cs typeface="Montserrat"/>
                <a:sym typeface="Montserrat"/>
              </a:rPr>
              <a:t>ashboards for administrators, doctors, nurses, staff, and patients.</a:t>
            </a:r>
          </a:p>
          <a:p>
            <a:pPr algn="l" marL="747059" indent="-373529" lvl="1">
              <a:lnSpc>
                <a:spcPts val="4844"/>
              </a:lnSpc>
              <a:spcBef>
                <a:spcPct val="0"/>
              </a:spcBef>
              <a:buFont typeface="Arial"/>
              <a:buChar char="•"/>
            </a:pPr>
            <a:r>
              <a:rPr lang="en-US" b="true" sz="3460" spc="-200">
                <a:solidFill>
                  <a:srgbClr val="101B40"/>
                </a:solidFill>
                <a:latin typeface="Montserrat Bold"/>
                <a:ea typeface="Montserrat Bold"/>
                <a:cs typeface="Montserrat Bold"/>
                <a:sym typeface="Montserrat Bold"/>
              </a:rPr>
              <a:t>Backend: </a:t>
            </a:r>
            <a:r>
              <a:rPr lang="en-US" sz="3460" spc="-200">
                <a:solidFill>
                  <a:srgbClr val="101B40"/>
                </a:solidFill>
                <a:latin typeface="Montserrat"/>
                <a:ea typeface="Montserrat"/>
                <a:cs typeface="Montserrat"/>
                <a:sym typeface="Montserrat"/>
              </a:rPr>
              <a:t>The application runs on an Express.js server through server.js, which handles API requests under the /api/* routes.</a:t>
            </a:r>
          </a:p>
          <a:p>
            <a:pPr algn="l" marL="747059" indent="-373529" lvl="1">
              <a:lnSpc>
                <a:spcPts val="4844"/>
              </a:lnSpc>
              <a:spcBef>
                <a:spcPct val="0"/>
              </a:spcBef>
              <a:buFont typeface="Arial"/>
              <a:buChar char="•"/>
            </a:pPr>
            <a:r>
              <a:rPr lang="en-US" b="true" sz="3460" spc="-200">
                <a:solidFill>
                  <a:srgbClr val="101B40"/>
                </a:solidFill>
                <a:latin typeface="Montserrat Bold"/>
                <a:ea typeface="Montserrat Bold"/>
                <a:cs typeface="Montserrat Bold"/>
                <a:sym typeface="Montserrat Bold"/>
              </a:rPr>
              <a:t>Database and Authentication:</a:t>
            </a:r>
            <a:r>
              <a:rPr lang="en-US" sz="3460" spc="-200">
                <a:solidFill>
                  <a:srgbClr val="101B40"/>
                </a:solidFill>
                <a:latin typeface="Montserrat"/>
                <a:ea typeface="Montserrat"/>
                <a:cs typeface="Montserrat"/>
                <a:sym typeface="Montserrat"/>
              </a:rPr>
              <a:t> The system utilizes Supab</a:t>
            </a:r>
            <a:r>
              <a:rPr lang="en-US" sz="3460" spc="-200">
                <a:solidFill>
                  <a:srgbClr val="101B40"/>
                </a:solidFill>
                <a:latin typeface="Montserrat"/>
                <a:ea typeface="Montserrat"/>
                <a:cs typeface="Montserrat"/>
                <a:sym typeface="Montserrat"/>
              </a:rPr>
              <a:t>ase, which provides P</a:t>
            </a:r>
            <a:r>
              <a:rPr lang="en-US" sz="3460" spc="-200">
                <a:solidFill>
                  <a:srgbClr val="101B40"/>
                </a:solidFill>
                <a:latin typeface="Montserrat"/>
                <a:ea typeface="Montserrat"/>
                <a:cs typeface="Montserrat"/>
                <a:sym typeface="Montserrat"/>
              </a:rPr>
              <a:t>ostgreSQL database management, user authentication, and Row-Level Security (RLS) policies for secure data access.</a:t>
            </a:r>
          </a:p>
          <a:p>
            <a:pPr algn="l" marL="747059" indent="-373529" lvl="1">
              <a:lnSpc>
                <a:spcPts val="4844"/>
              </a:lnSpc>
              <a:spcBef>
                <a:spcPct val="0"/>
              </a:spcBef>
              <a:buFont typeface="Arial"/>
              <a:buChar char="•"/>
            </a:pPr>
            <a:r>
              <a:rPr lang="en-US" b="true" sz="3460" spc="-200">
                <a:solidFill>
                  <a:srgbClr val="101B40"/>
                </a:solidFill>
                <a:latin typeface="Montserrat Bold"/>
                <a:ea typeface="Montserrat Bold"/>
                <a:cs typeface="Montserrat Bold"/>
                <a:sym typeface="Montserrat Bold"/>
              </a:rPr>
              <a:t>Secur</a:t>
            </a:r>
            <a:r>
              <a:rPr lang="en-US" b="true" sz="3460" spc="-200">
                <a:solidFill>
                  <a:srgbClr val="101B40"/>
                </a:solidFill>
                <a:latin typeface="Montserrat Bold"/>
                <a:ea typeface="Montserrat Bold"/>
                <a:cs typeface="Montserrat Bold"/>
                <a:sym typeface="Montserrat Bold"/>
              </a:rPr>
              <a:t>ity Features: </a:t>
            </a:r>
            <a:r>
              <a:rPr lang="en-US" sz="3460" spc="-200">
                <a:solidFill>
                  <a:srgbClr val="101B40"/>
                </a:solidFill>
                <a:latin typeface="Montserrat"/>
                <a:ea typeface="Montserrat"/>
                <a:cs typeface="Montserrat"/>
                <a:sym typeface="Montserrat"/>
              </a:rPr>
              <a:t>The platform implements security measures such as Helmet with Content Security Policy (CSP), rate limiting, CSRF token validation, One-Time Password (OTP) authentication for Two-Factor Authentication (2FA), and audit logs for monitoring user activities.</a:t>
            </a:r>
          </a:p>
          <a:p>
            <a:pPr algn="l">
              <a:lnSpc>
                <a:spcPts val="4844"/>
              </a:lnSpc>
              <a:spcBef>
                <a:spcPct val="0"/>
              </a:spcBef>
            </a:pPr>
          </a:p>
        </p:txBody>
      </p:sp>
      <p:sp>
        <p:nvSpPr>
          <p:cNvPr name="TextBox 6" id="6"/>
          <p:cNvSpPr txBox="true"/>
          <p:nvPr/>
        </p:nvSpPr>
        <p:spPr>
          <a:xfrm rot="0">
            <a:off x="2035478" y="1276350"/>
            <a:ext cx="14217044" cy="2020548"/>
          </a:xfrm>
          <a:prstGeom prst="rect">
            <a:avLst/>
          </a:prstGeom>
        </p:spPr>
        <p:txBody>
          <a:bodyPr anchor="t" rtlCol="false" tIns="0" lIns="0" bIns="0" rIns="0">
            <a:spAutoFit/>
          </a:bodyPr>
          <a:lstStyle/>
          <a:p>
            <a:pPr algn="ctr">
              <a:lnSpc>
                <a:spcPts val="7679"/>
              </a:lnSpc>
            </a:pPr>
            <a:r>
              <a:rPr lang="en-US" b="true" sz="8532" spc="-494">
                <a:solidFill>
                  <a:srgbClr val="101B40"/>
                </a:solidFill>
                <a:latin typeface="Montserrat Bold"/>
                <a:ea typeface="Montserrat Bold"/>
                <a:cs typeface="Montserrat Bold"/>
                <a:sym typeface="Montserrat Bold"/>
              </a:rPr>
              <a:t>SYSTEM ARCHITECTURE</a:t>
            </a:r>
          </a:p>
          <a:p>
            <a:pPr algn="ctr">
              <a:lnSpc>
                <a:spcPts val="7679"/>
              </a:lnSpc>
            </a:pPr>
          </a:p>
        </p:txBody>
      </p:sp>
      <p:sp>
        <p:nvSpPr>
          <p:cNvPr name="TextBox 7" id="7"/>
          <p:cNvSpPr txBox="true"/>
          <p:nvPr/>
        </p:nvSpPr>
        <p:spPr>
          <a:xfrm rot="0">
            <a:off x="804572" y="627964"/>
            <a:ext cx="6025231" cy="285832"/>
          </a:xfrm>
          <a:prstGeom prst="rect">
            <a:avLst/>
          </a:prstGeom>
        </p:spPr>
        <p:txBody>
          <a:bodyPr anchor="t" rtlCol="false" tIns="0" lIns="0" bIns="0" rIns="0">
            <a:spAutoFit/>
          </a:bodyPr>
          <a:lstStyle/>
          <a:p>
            <a:pPr algn="l" marL="0" indent="0" lvl="0">
              <a:lnSpc>
                <a:spcPts val="2235"/>
              </a:lnSpc>
            </a:pPr>
            <a:r>
              <a:rPr lang="en-US" b="true" sz="2051" spc="4">
                <a:solidFill>
                  <a:srgbClr val="101B40"/>
                </a:solidFill>
                <a:latin typeface="Montserrat Bold"/>
                <a:ea typeface="Montserrat Bold"/>
                <a:cs typeface="Montserrat Bold"/>
                <a:sym typeface="Montserrat Bold"/>
              </a:rPr>
              <a:t>CAVITE STATE UNIVERSITY - IMUS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4789160" y="-264337"/>
            <a:ext cx="4264059" cy="10287000"/>
            <a:chOff x="0" y="0"/>
            <a:chExt cx="1123044" cy="2709333"/>
          </a:xfrm>
        </p:grpSpPr>
        <p:sp>
          <p:nvSpPr>
            <p:cNvPr name="Freeform 3" id="3"/>
            <p:cNvSpPr/>
            <p:nvPr/>
          </p:nvSpPr>
          <p:spPr>
            <a:xfrm flipH="false" flipV="false" rot="0">
              <a:off x="0" y="0"/>
              <a:ext cx="1123044" cy="2709333"/>
            </a:xfrm>
            <a:custGeom>
              <a:avLst/>
              <a:gdLst/>
              <a:ahLst/>
              <a:cxnLst/>
              <a:rect r="r" b="b" t="t" l="l"/>
              <a:pathLst>
                <a:path h="2709333" w="1123044">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a:srgbClr val="DCE2EB"/>
            </a:solidFill>
          </p:spPr>
        </p:sp>
        <p:sp>
          <p:nvSpPr>
            <p:cNvPr name="TextBox 4" id="4"/>
            <p:cNvSpPr txBox="true"/>
            <p:nvPr/>
          </p:nvSpPr>
          <p:spPr>
            <a:xfrm>
              <a:off x="0" y="-38100"/>
              <a:ext cx="1123044" cy="2747433"/>
            </a:xfrm>
            <a:prstGeom prst="rect">
              <a:avLst/>
            </a:prstGeom>
          </p:spPr>
          <p:txBody>
            <a:bodyPr anchor="ctr" rtlCol="false" tIns="50800" lIns="50800" bIns="50800" rIns="50800"/>
            <a:lstStyle/>
            <a:p>
              <a:pPr algn="ctr">
                <a:lnSpc>
                  <a:spcPts val="2591"/>
                </a:lnSpc>
              </a:pPr>
            </a:p>
          </p:txBody>
        </p:sp>
      </p:grpSp>
      <p:sp>
        <p:nvSpPr>
          <p:cNvPr name="TextBox 5" id="5"/>
          <p:cNvSpPr txBox="true"/>
          <p:nvPr/>
        </p:nvSpPr>
        <p:spPr>
          <a:xfrm rot="0">
            <a:off x="804572" y="3023635"/>
            <a:ext cx="16895037" cy="6234665"/>
          </a:xfrm>
          <a:prstGeom prst="rect">
            <a:avLst/>
          </a:prstGeom>
        </p:spPr>
        <p:txBody>
          <a:bodyPr anchor="t" rtlCol="false" tIns="0" lIns="0" bIns="0" rIns="0">
            <a:spAutoFit/>
          </a:bodyPr>
          <a:lstStyle/>
          <a:p>
            <a:pPr algn="ctr">
              <a:lnSpc>
                <a:spcPts val="7057"/>
              </a:lnSpc>
            </a:pPr>
            <a:r>
              <a:rPr lang="en-US" sz="5040" spc="-292">
                <a:solidFill>
                  <a:srgbClr val="101B40"/>
                </a:solidFill>
                <a:latin typeface="Montserrat"/>
                <a:ea typeface="Montserrat"/>
                <a:cs typeface="Montserrat"/>
                <a:sym typeface="Montserrat"/>
              </a:rPr>
              <a:t>Quantitative descriptive design, conducted at Gawaran Maternal Clinic (Feb–May 2026), with 83 purposively selected staff, doctors, and patients. Data gathered through 20‑item Likert questionnaires and informal interviews. Analysis used frequency, percentage, mean, weighted mean, plus thematic review of qualitative feedback to evaluate system effectiveness.</a:t>
            </a:r>
          </a:p>
        </p:txBody>
      </p:sp>
      <p:sp>
        <p:nvSpPr>
          <p:cNvPr name="TextBox 6" id="6"/>
          <p:cNvSpPr txBox="true"/>
          <p:nvPr/>
        </p:nvSpPr>
        <p:spPr>
          <a:xfrm rot="0">
            <a:off x="2035478" y="1276350"/>
            <a:ext cx="14217044" cy="1048998"/>
          </a:xfrm>
          <a:prstGeom prst="rect">
            <a:avLst/>
          </a:prstGeom>
        </p:spPr>
        <p:txBody>
          <a:bodyPr anchor="t" rtlCol="false" tIns="0" lIns="0" bIns="0" rIns="0">
            <a:spAutoFit/>
          </a:bodyPr>
          <a:lstStyle/>
          <a:p>
            <a:pPr algn="ctr">
              <a:lnSpc>
                <a:spcPts val="7679"/>
              </a:lnSpc>
            </a:pPr>
            <a:r>
              <a:rPr lang="en-US" b="true" sz="8532" spc="-494">
                <a:solidFill>
                  <a:srgbClr val="101B40"/>
                </a:solidFill>
                <a:latin typeface="Montserrat Bold"/>
                <a:ea typeface="Montserrat Bold"/>
                <a:cs typeface="Montserrat Bold"/>
                <a:sym typeface="Montserrat Bold"/>
              </a:rPr>
              <a:t>METHODOLOGY</a:t>
            </a:r>
          </a:p>
        </p:txBody>
      </p:sp>
      <p:sp>
        <p:nvSpPr>
          <p:cNvPr name="TextBox 7" id="7"/>
          <p:cNvSpPr txBox="true"/>
          <p:nvPr/>
        </p:nvSpPr>
        <p:spPr>
          <a:xfrm rot="0">
            <a:off x="804572" y="627964"/>
            <a:ext cx="6025231" cy="285832"/>
          </a:xfrm>
          <a:prstGeom prst="rect">
            <a:avLst/>
          </a:prstGeom>
        </p:spPr>
        <p:txBody>
          <a:bodyPr anchor="t" rtlCol="false" tIns="0" lIns="0" bIns="0" rIns="0">
            <a:spAutoFit/>
          </a:bodyPr>
          <a:lstStyle/>
          <a:p>
            <a:pPr algn="l" marL="0" indent="0" lvl="0">
              <a:lnSpc>
                <a:spcPts val="2235"/>
              </a:lnSpc>
            </a:pPr>
            <a:r>
              <a:rPr lang="en-US" b="true" sz="2051" spc="4">
                <a:solidFill>
                  <a:srgbClr val="101B40"/>
                </a:solidFill>
                <a:latin typeface="Montserrat Bold"/>
                <a:ea typeface="Montserrat Bold"/>
                <a:cs typeface="Montserrat Bold"/>
                <a:sym typeface="Montserrat Bold"/>
              </a:rPr>
              <a:t>CAVITE STATE UNIVERSITY - IMUS</a:t>
            </a:r>
          </a:p>
        </p:txBody>
      </p:sp>
      <p:sp>
        <p:nvSpPr>
          <p:cNvPr name="TextBox 8" id="8"/>
          <p:cNvSpPr txBox="true"/>
          <p:nvPr/>
        </p:nvSpPr>
        <p:spPr>
          <a:xfrm rot="0">
            <a:off x="1409789" y="8403045"/>
            <a:ext cx="2618330" cy="504465"/>
          </a:xfrm>
          <a:prstGeom prst="rect">
            <a:avLst/>
          </a:prstGeom>
        </p:spPr>
        <p:txBody>
          <a:bodyPr anchor="t" rtlCol="false" tIns="0" lIns="0" bIns="0" rIns="0">
            <a:spAutoFit/>
          </a:bodyPr>
          <a:lstStyle/>
          <a:p>
            <a:pPr algn="just">
              <a:lnSpc>
                <a:spcPts val="1999"/>
              </a:lnSpc>
            </a:pPr>
            <a:r>
              <a:rPr lang="en-US" b="true" sz="1851" spc="-131">
                <a:solidFill>
                  <a:srgbClr val="F4F4F4"/>
                </a:solidFill>
                <a:latin typeface="Montserrat Semi-Bold"/>
                <a:ea typeface="Montserrat Semi-Bold"/>
                <a:cs typeface="Montserrat Semi-Bold"/>
                <a:sym typeface="Montserrat Semi-Bold"/>
              </a:rPr>
              <a:t>WHERE INNOVATION MEETS OPPORTUNITY.</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4789160" y="-264337"/>
            <a:ext cx="4264059" cy="10287000"/>
            <a:chOff x="0" y="0"/>
            <a:chExt cx="1123044" cy="2709333"/>
          </a:xfrm>
        </p:grpSpPr>
        <p:sp>
          <p:nvSpPr>
            <p:cNvPr name="Freeform 3" id="3"/>
            <p:cNvSpPr/>
            <p:nvPr/>
          </p:nvSpPr>
          <p:spPr>
            <a:xfrm flipH="false" flipV="false" rot="0">
              <a:off x="0" y="0"/>
              <a:ext cx="1123044" cy="2709333"/>
            </a:xfrm>
            <a:custGeom>
              <a:avLst/>
              <a:gdLst/>
              <a:ahLst/>
              <a:cxnLst/>
              <a:rect r="r" b="b" t="t" l="l"/>
              <a:pathLst>
                <a:path h="2709333" w="1123044">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a:srgbClr val="DCE2EB"/>
            </a:solidFill>
          </p:spPr>
        </p:sp>
        <p:sp>
          <p:nvSpPr>
            <p:cNvPr name="TextBox 4" id="4"/>
            <p:cNvSpPr txBox="true"/>
            <p:nvPr/>
          </p:nvSpPr>
          <p:spPr>
            <a:xfrm>
              <a:off x="0" y="-38100"/>
              <a:ext cx="1123044" cy="2747433"/>
            </a:xfrm>
            <a:prstGeom prst="rect">
              <a:avLst/>
            </a:prstGeom>
          </p:spPr>
          <p:txBody>
            <a:bodyPr anchor="ctr" rtlCol="false" tIns="50800" lIns="50800" bIns="50800" rIns="50800"/>
            <a:lstStyle/>
            <a:p>
              <a:pPr algn="ctr">
                <a:lnSpc>
                  <a:spcPts val="2591"/>
                </a:lnSpc>
              </a:pPr>
            </a:p>
          </p:txBody>
        </p:sp>
      </p:grpSp>
      <p:sp>
        <p:nvSpPr>
          <p:cNvPr name="TextBox 5" id="5"/>
          <p:cNvSpPr txBox="true"/>
          <p:nvPr/>
        </p:nvSpPr>
        <p:spPr>
          <a:xfrm rot="0">
            <a:off x="2029084" y="3855675"/>
            <a:ext cx="14229832" cy="2937599"/>
          </a:xfrm>
          <a:prstGeom prst="rect">
            <a:avLst/>
          </a:prstGeom>
        </p:spPr>
        <p:txBody>
          <a:bodyPr anchor="t" rtlCol="false" tIns="0" lIns="0" bIns="0" rIns="0">
            <a:spAutoFit/>
          </a:bodyPr>
          <a:lstStyle/>
          <a:p>
            <a:pPr algn="ctr">
              <a:lnSpc>
                <a:spcPts val="11171"/>
              </a:lnSpc>
            </a:pPr>
            <a:r>
              <a:rPr lang="en-US" b="true" sz="12412" spc="-719">
                <a:solidFill>
                  <a:srgbClr val="101B40"/>
                </a:solidFill>
                <a:latin typeface="Montserrat Bold"/>
                <a:ea typeface="Montserrat Bold"/>
                <a:cs typeface="Montserrat Bold"/>
                <a:sym typeface="Montserrat Bold"/>
              </a:rPr>
              <a:t>SYSTEM DEMO</a:t>
            </a:r>
          </a:p>
          <a:p>
            <a:pPr algn="ctr">
              <a:lnSpc>
                <a:spcPts val="11171"/>
              </a:lnSpc>
            </a:pPr>
          </a:p>
        </p:txBody>
      </p:sp>
      <p:sp>
        <p:nvSpPr>
          <p:cNvPr name="TextBox 6" id="6"/>
          <p:cNvSpPr txBox="true"/>
          <p:nvPr/>
        </p:nvSpPr>
        <p:spPr>
          <a:xfrm rot="0">
            <a:off x="804572" y="627964"/>
            <a:ext cx="6025231" cy="285832"/>
          </a:xfrm>
          <a:prstGeom prst="rect">
            <a:avLst/>
          </a:prstGeom>
        </p:spPr>
        <p:txBody>
          <a:bodyPr anchor="t" rtlCol="false" tIns="0" lIns="0" bIns="0" rIns="0">
            <a:spAutoFit/>
          </a:bodyPr>
          <a:lstStyle/>
          <a:p>
            <a:pPr algn="l" marL="0" indent="0" lvl="0">
              <a:lnSpc>
                <a:spcPts val="2235"/>
              </a:lnSpc>
            </a:pPr>
            <a:r>
              <a:rPr lang="en-US" b="true" sz="2051" spc="4">
                <a:solidFill>
                  <a:srgbClr val="101B40"/>
                </a:solidFill>
                <a:latin typeface="Montserrat Bold"/>
                <a:ea typeface="Montserrat Bold"/>
                <a:cs typeface="Montserrat Bold"/>
                <a:sym typeface="Montserrat Bold"/>
              </a:rPr>
              <a:t>CAVITE STATE UNIVERSITY - IMUS</a:t>
            </a:r>
          </a:p>
        </p:txBody>
      </p:sp>
      <p:sp>
        <p:nvSpPr>
          <p:cNvPr name="TextBox 7" id="7"/>
          <p:cNvSpPr txBox="true"/>
          <p:nvPr/>
        </p:nvSpPr>
        <p:spPr>
          <a:xfrm rot="0">
            <a:off x="1409789" y="8403045"/>
            <a:ext cx="2618330" cy="504465"/>
          </a:xfrm>
          <a:prstGeom prst="rect">
            <a:avLst/>
          </a:prstGeom>
        </p:spPr>
        <p:txBody>
          <a:bodyPr anchor="t" rtlCol="false" tIns="0" lIns="0" bIns="0" rIns="0">
            <a:spAutoFit/>
          </a:bodyPr>
          <a:lstStyle/>
          <a:p>
            <a:pPr algn="just">
              <a:lnSpc>
                <a:spcPts val="1999"/>
              </a:lnSpc>
            </a:pPr>
            <a:r>
              <a:rPr lang="en-US" b="true" sz="1851" spc="-131">
                <a:solidFill>
                  <a:srgbClr val="F4F4F4"/>
                </a:solidFill>
                <a:latin typeface="Montserrat Semi-Bold"/>
                <a:ea typeface="Montserrat Semi-Bold"/>
                <a:cs typeface="Montserrat Semi-Bold"/>
                <a:sym typeface="Montserrat Semi-Bold"/>
              </a:rPr>
              <a:t>WHERE INNOVATION MEETS OPPORTUNITY.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DAHK9bJAaD8</dc:identifier>
  <dcterms:modified xsi:type="dcterms:W3CDTF">2011-08-01T06:04:30Z</dcterms:modified>
  <cp:revision>1</cp:revision>
  <dc:title>Blue and White Modern Artificial Intelligence Presentation</dc:title>
</cp:coreProperties>
</file>